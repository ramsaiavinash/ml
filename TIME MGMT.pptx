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9083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DE0CC"/>
          </a:solidFill>
          <a:ln w="12700">
            <a:solidFill>
              <a:srgbClr val="ED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300" dirty="0">
                <a:solidFill>
                  <a:srgbClr val="3B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520440" y="1298448"/>
            <a:ext cx="2103120" cy="2103120"/>
          </a:xfrm>
          <a:prstGeom prst="ellipse">
            <a:avLst/>
          </a:prstGeom>
          <a:solidFill>
            <a:srgbClr val="8B6914">
              <a:alpha val="10000"/>
            </a:srgbClr>
          </a:solidFill>
          <a:ln w="12700">
            <a:solidFill>
              <a:srgbClr val="8B691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858768" y="1627632"/>
            <a:ext cx="1426464" cy="1426464"/>
          </a:xfrm>
          <a:prstGeom prst="ellipse">
            <a:avLst/>
          </a:prstGeom>
          <a:solidFill>
            <a:srgbClr val="C4973A">
              <a:alpha val="18000"/>
            </a:srgbClr>
          </a:solidFill>
          <a:ln w="12700">
            <a:solidFill>
              <a:srgbClr val="C4973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51376" y="1847088"/>
            <a:ext cx="841248" cy="841248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51376" y="1847088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⏱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71600" y="299923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4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Strategies for Time Management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74720" y="3493008"/>
            <a:ext cx="2194560" cy="45720"/>
          </a:xfrm>
          <a:prstGeom prst="rect">
            <a:avLst/>
          </a:prstGeom>
          <a:solidFill>
            <a:srgbClr val="C4973A"/>
          </a:solidFill>
          <a:ln w="12700">
            <a:solidFill>
              <a:srgbClr val="C497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0" y="36576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0" y="3913632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Santhi 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0" y="435254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May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DE0CC"/>
          </a:solidFill>
          <a:ln w="12700">
            <a:solidFill>
              <a:srgbClr val="ED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0" y="4800600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0" y="4837176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Santhi A  |  14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DE0CC"/>
          </a:solidFill>
          <a:ln w="12700">
            <a:solidFill>
              <a:srgbClr val="ED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DE0CC"/>
          </a:solidFill>
          <a:ln w="12700">
            <a:solidFill>
              <a:srgbClr val="ED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0" y="4837176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Santhi A  |  14 May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3840480" cy="896112"/>
          </a:xfrm>
          <a:prstGeom prst="rect">
            <a:avLst/>
          </a:prstGeom>
          <a:solidFill>
            <a:srgbClr val="FDF5E8"/>
          </a:solidFill>
          <a:ln w="12700">
            <a:solidFill>
              <a:srgbClr val="DFD0B0"/>
            </a:solidFill>
            <a:prstDash val="solid"/>
          </a:ln>
          <a:effectLst>
            <a:outerShdw blurRad="50800" dist="25400" dir="8100000" algn="bl" rotWithShape="0">
              <a:srgbClr val="8B691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960120"/>
            <a:ext cx="64008" cy="89611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94360" y="1152144"/>
            <a:ext cx="502920" cy="50292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4360" y="1152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1143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Prioritization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3840480" cy="896112"/>
          </a:xfrm>
          <a:prstGeom prst="rect">
            <a:avLst/>
          </a:prstGeom>
          <a:solidFill>
            <a:srgbClr val="FDF5E8"/>
          </a:solidFill>
          <a:ln w="12700">
            <a:solidFill>
              <a:srgbClr val="DFD0B0"/>
            </a:solidFill>
            <a:prstDash val="solid"/>
          </a:ln>
          <a:effectLst>
            <a:outerShdw blurRad="50800" dist="25400" dir="8100000" algn="bl" rotWithShape="0">
              <a:srgbClr val="8B691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64008" cy="89611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94360" y="2386584"/>
            <a:ext cx="502920" cy="50292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94360" y="2386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377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Blocking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3840480" cy="896112"/>
          </a:xfrm>
          <a:prstGeom prst="rect">
            <a:avLst/>
          </a:prstGeom>
          <a:solidFill>
            <a:srgbClr val="FDF5E8"/>
          </a:solidFill>
          <a:ln w="12700">
            <a:solidFill>
              <a:srgbClr val="DFD0B0"/>
            </a:solidFill>
            <a:prstDash val="solid"/>
          </a:ln>
          <a:effectLst>
            <a:outerShdw blurRad="50800" dist="25400" dir="8100000" algn="bl" rotWithShape="0">
              <a:srgbClr val="8B691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64008" cy="89611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94360" y="3621024"/>
            <a:ext cx="502920" cy="50292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94360" y="3621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611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846320" y="960120"/>
            <a:ext cx="3840480" cy="896112"/>
          </a:xfrm>
          <a:prstGeom prst="rect">
            <a:avLst/>
          </a:prstGeom>
          <a:solidFill>
            <a:srgbClr val="FDF5E8"/>
          </a:solidFill>
          <a:ln w="12700">
            <a:solidFill>
              <a:srgbClr val="DFD0B0"/>
            </a:solidFill>
            <a:prstDash val="solid"/>
          </a:ln>
          <a:effectLst>
            <a:outerShdw blurRad="50800" dist="25400" dir="8100000" algn="bl" rotWithShape="0">
              <a:srgbClr val="8B691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46320" y="960120"/>
            <a:ext cx="64008" cy="89611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983480" y="1152144"/>
            <a:ext cx="502920" cy="50292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983480" y="1152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77840" y="1143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Efficiency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846320" y="2194560"/>
            <a:ext cx="3840480" cy="896112"/>
          </a:xfrm>
          <a:prstGeom prst="rect">
            <a:avLst/>
          </a:prstGeom>
          <a:solidFill>
            <a:srgbClr val="FDF5E8"/>
          </a:solidFill>
          <a:ln w="12700">
            <a:solidFill>
              <a:srgbClr val="DFD0B0"/>
            </a:solidFill>
            <a:prstDash val="solid"/>
          </a:ln>
          <a:effectLst>
            <a:outerShdw blurRad="50800" dist="25400" dir="8100000" algn="bl" rotWithShape="0">
              <a:srgbClr val="8B691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846320" y="2194560"/>
            <a:ext cx="64008" cy="89611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983480" y="2386584"/>
            <a:ext cx="502920" cy="50292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83480" y="2386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77840" y="2377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Your Time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DE0CC"/>
          </a:solidFill>
          <a:ln w="12700">
            <a:solidFill>
              <a:srgbClr val="ED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Prioritization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DE0CC"/>
          </a:solidFill>
          <a:ln w="12700">
            <a:solidFill>
              <a:srgbClr val="ED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0" y="4837176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Santhi A  |  14 May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0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11480" y="896112"/>
            <a:ext cx="8321040" cy="1051560"/>
          </a:xfrm>
          <a:prstGeom prst="rect">
            <a:avLst/>
          </a:prstGeom>
          <a:solidFill>
            <a:srgbClr val="FDF5E8"/>
          </a:solidFill>
          <a:ln w="12700">
            <a:solidFill>
              <a:srgbClr val="DFD0B0"/>
            </a:solidFill>
            <a:prstDash val="solid"/>
          </a:ln>
          <a:effectLst>
            <a:outerShdw blurRad="50800" dist="25400" dir="8100000" algn="bl" rotWithShape="0">
              <a:srgbClr val="8B691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11480" y="896112"/>
            <a:ext cx="64008" cy="10515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66928" y="1152144"/>
            <a:ext cx="502920" cy="50292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66928" y="1152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70432" y="9875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Plan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70432" y="133502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every day and week with a clear written plan — know your top goals before you open email or attend meetings.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1480" y="2157984"/>
            <a:ext cx="8321040" cy="1051560"/>
          </a:xfrm>
          <a:prstGeom prst="rect">
            <a:avLst/>
          </a:prstGeom>
          <a:solidFill>
            <a:srgbClr val="FDF5E8"/>
          </a:solidFill>
          <a:ln w="12700">
            <a:solidFill>
              <a:srgbClr val="DFD0B0"/>
            </a:solidFill>
            <a:prstDash val="solid"/>
          </a:ln>
          <a:effectLst>
            <a:outerShdw blurRad="50800" dist="25400" dir="8100000" algn="bl" rotWithShape="0">
              <a:srgbClr val="8B691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11480" y="2157984"/>
            <a:ext cx="64008" cy="10515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66928" y="2414016"/>
            <a:ext cx="502920" cy="50292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66928" y="2414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224942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Top Three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70432" y="2596896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three most important tasks each day. Completing these three moves the needle more than 10 minor tasks.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1480" y="3419856"/>
            <a:ext cx="8321040" cy="1051560"/>
          </a:xfrm>
          <a:prstGeom prst="rect">
            <a:avLst/>
          </a:prstGeom>
          <a:solidFill>
            <a:srgbClr val="FDF5E8"/>
          </a:solidFill>
          <a:ln w="12700">
            <a:solidFill>
              <a:srgbClr val="DFD0B0"/>
            </a:solidFill>
            <a:prstDash val="solid"/>
          </a:ln>
          <a:effectLst>
            <a:outerShdw blurRad="50800" dist="25400" dir="8100000" algn="bl" rotWithShape="0">
              <a:srgbClr val="8B691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11480" y="3419856"/>
            <a:ext cx="64008" cy="10515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66928" y="3675888"/>
            <a:ext cx="502920" cy="50292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66928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70432" y="351129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Urgency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70432" y="3858768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Eisenhower Matrix: separate what is Urgent &amp; Important from what can be scheduled, delegated, or dropped.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DE0CC"/>
          </a:solidFill>
          <a:ln w="12700">
            <a:solidFill>
              <a:srgbClr val="ED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Blocking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DE0CC"/>
          </a:solidFill>
          <a:ln w="12700">
            <a:solidFill>
              <a:srgbClr val="ED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0" y="4837176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Santhi A  |  14 May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0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🗓️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11480" y="896112"/>
            <a:ext cx="8321040" cy="1051560"/>
          </a:xfrm>
          <a:prstGeom prst="rect">
            <a:avLst/>
          </a:prstGeom>
          <a:solidFill>
            <a:srgbClr val="FDF5E8"/>
          </a:solidFill>
          <a:ln w="12700">
            <a:solidFill>
              <a:srgbClr val="DFD0B0"/>
            </a:solidFill>
            <a:prstDash val="solid"/>
          </a:ln>
          <a:effectLst>
            <a:outerShdw blurRad="50800" dist="25400" dir="8100000" algn="bl" rotWithShape="0">
              <a:srgbClr val="8B691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11480" y="896112"/>
            <a:ext cx="64008" cy="10515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66928" y="1152144"/>
            <a:ext cx="502920" cy="50292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66928" y="1152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70432" y="9875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Your Calendar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70432" y="133502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focused time blocks for deep work. Treat these blocks like meetings — protect them from being overwritten.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1480" y="2157984"/>
            <a:ext cx="8321040" cy="1051560"/>
          </a:xfrm>
          <a:prstGeom prst="rect">
            <a:avLst/>
          </a:prstGeom>
          <a:solidFill>
            <a:srgbClr val="FDF5E8"/>
          </a:solidFill>
          <a:ln w="12700">
            <a:solidFill>
              <a:srgbClr val="DFD0B0"/>
            </a:solidFill>
            <a:prstDash val="solid"/>
          </a:ln>
          <a:effectLst>
            <a:outerShdw blurRad="50800" dist="25400" dir="8100000" algn="bl" rotWithShape="0">
              <a:srgbClr val="8B691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11480" y="2157984"/>
            <a:ext cx="64008" cy="10515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66928" y="2414016"/>
            <a:ext cx="502920" cy="50292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66928" y="2414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224942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Multitasking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70432" y="2596896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Multitasking reduces quality and speed. Commit fully to one task per block — your output will be faster and better.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1480" y="3419856"/>
            <a:ext cx="8321040" cy="1051560"/>
          </a:xfrm>
          <a:prstGeom prst="rect">
            <a:avLst/>
          </a:prstGeom>
          <a:solidFill>
            <a:srgbClr val="FDF5E8"/>
          </a:solidFill>
          <a:ln w="12700">
            <a:solidFill>
              <a:srgbClr val="DFD0B0"/>
            </a:solidFill>
            <a:prstDash val="solid"/>
          </a:ln>
          <a:effectLst>
            <a:outerShdw blurRad="50800" dist="25400" dir="8100000" algn="bl" rotWithShape="0">
              <a:srgbClr val="8B691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11480" y="3419856"/>
            <a:ext cx="64008" cy="10515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66928" y="3675888"/>
            <a:ext cx="502920" cy="50292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66928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70432" y="351129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Off Distractions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70432" y="3858768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notifications, close unused tabs, and set your status to 'Do Not Disturb' during focused work blocks.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DE0CC"/>
          </a:solidFill>
          <a:ln w="12700">
            <a:solidFill>
              <a:srgbClr val="ED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DE0CC"/>
          </a:solidFill>
          <a:ln w="12700">
            <a:solidFill>
              <a:srgbClr val="ED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0" y="4837176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Santhi A  |  14 May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0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11480" y="896112"/>
            <a:ext cx="8321040" cy="1051560"/>
          </a:xfrm>
          <a:prstGeom prst="rect">
            <a:avLst/>
          </a:prstGeom>
          <a:solidFill>
            <a:srgbClr val="FDF5E8"/>
          </a:solidFill>
          <a:ln w="12700">
            <a:solidFill>
              <a:srgbClr val="DFD0B0"/>
            </a:solidFill>
            <a:prstDash val="solid"/>
          </a:ln>
          <a:effectLst>
            <a:outerShdw blurRad="50800" dist="25400" dir="8100000" algn="bl" rotWithShape="0">
              <a:srgbClr val="8B691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11480" y="896112"/>
            <a:ext cx="64008" cy="10515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66928" y="1152144"/>
            <a:ext cx="502920" cy="50292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66928" y="1152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70432" y="9875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Your Team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70432" y="133502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tasks confidently and let team members own the work. Micromanagement wastes your time and demotivates them.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1480" y="2157984"/>
            <a:ext cx="8321040" cy="1051560"/>
          </a:xfrm>
          <a:prstGeom prst="rect">
            <a:avLst/>
          </a:prstGeom>
          <a:solidFill>
            <a:srgbClr val="FDF5E8"/>
          </a:solidFill>
          <a:ln w="12700">
            <a:solidFill>
              <a:srgbClr val="DFD0B0"/>
            </a:solidFill>
            <a:prstDash val="solid"/>
          </a:ln>
          <a:effectLst>
            <a:outerShdw blurRad="50800" dist="25400" dir="8100000" algn="bl" rotWithShape="0">
              <a:srgbClr val="8B691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11480" y="2157984"/>
            <a:ext cx="64008" cy="10515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66928" y="2414016"/>
            <a:ext cx="502920" cy="50292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66928" y="2414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224942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Results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70432" y="2596896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clear expectations on the outcome, not the method. Give your team the freedom to deliver in their own way.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1480" y="3419856"/>
            <a:ext cx="8321040" cy="1051560"/>
          </a:xfrm>
          <a:prstGeom prst="rect">
            <a:avLst/>
          </a:prstGeom>
          <a:solidFill>
            <a:srgbClr val="FDF5E8"/>
          </a:solidFill>
          <a:ln w="12700">
            <a:solidFill>
              <a:srgbClr val="DFD0B0"/>
            </a:solidFill>
            <a:prstDash val="solid"/>
          </a:ln>
          <a:effectLst>
            <a:outerShdw blurRad="50800" dist="25400" dir="8100000" algn="bl" rotWithShape="0">
              <a:srgbClr val="8B691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11480" y="3419856"/>
            <a:ext cx="64008" cy="10515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66928" y="3675888"/>
            <a:ext cx="502920" cy="50292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66928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70432" y="351129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Growth Opportunities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70432" y="3858768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stretch tasks that challenge team members. This develops their skills and frees your time for higher-level work.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DE0CC"/>
          </a:solidFill>
          <a:ln w="12700">
            <a:solidFill>
              <a:srgbClr val="ED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Efficiency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DE0CC"/>
          </a:solidFill>
          <a:ln w="12700">
            <a:solidFill>
              <a:srgbClr val="ED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0" y="4837176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Santhi A  |  14 May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0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11480" y="896112"/>
            <a:ext cx="8321040" cy="1051560"/>
          </a:xfrm>
          <a:prstGeom prst="rect">
            <a:avLst/>
          </a:prstGeom>
          <a:solidFill>
            <a:srgbClr val="FDF5E8"/>
          </a:solidFill>
          <a:ln w="12700">
            <a:solidFill>
              <a:srgbClr val="DFD0B0"/>
            </a:solidFill>
            <a:prstDash val="solid"/>
          </a:ln>
          <a:effectLst>
            <a:outerShdw blurRad="50800" dist="25400" dir="8100000" algn="bl" rotWithShape="0">
              <a:srgbClr val="8B691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11480" y="896112"/>
            <a:ext cx="64008" cy="10515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66928" y="1152144"/>
            <a:ext cx="502920" cy="50292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66928" y="1152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70432" y="9875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Goal First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70432" y="133502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meeting must have a clear purpose and agenda shared in advance. No agenda = no meeting.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1480" y="2157984"/>
            <a:ext cx="8321040" cy="1051560"/>
          </a:xfrm>
          <a:prstGeom prst="rect">
            <a:avLst/>
          </a:prstGeom>
          <a:solidFill>
            <a:srgbClr val="FDF5E8"/>
          </a:solidFill>
          <a:ln w="12700">
            <a:solidFill>
              <a:srgbClr val="DFD0B0"/>
            </a:solidFill>
            <a:prstDash val="solid"/>
          </a:ln>
          <a:effectLst>
            <a:outerShdw blurRad="50800" dist="25400" dir="8100000" algn="bl" rotWithShape="0">
              <a:srgbClr val="8B691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11480" y="2157984"/>
            <a:ext cx="64008" cy="10515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66928" y="2414016"/>
            <a:ext cx="502920" cy="50292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66928" y="2414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224942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Short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70432" y="2596896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meetings to 15–25 minutes. Stand-ups, status updates, and quick decisions rarely need an hour.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1480" y="3419856"/>
            <a:ext cx="8321040" cy="1051560"/>
          </a:xfrm>
          <a:prstGeom prst="rect">
            <a:avLst/>
          </a:prstGeom>
          <a:solidFill>
            <a:srgbClr val="FDF5E8"/>
          </a:solidFill>
          <a:ln w="12700">
            <a:solidFill>
              <a:srgbClr val="DFD0B0"/>
            </a:solidFill>
            <a:prstDash val="solid"/>
          </a:ln>
          <a:effectLst>
            <a:outerShdw blurRad="50800" dist="25400" dir="8100000" algn="bl" rotWithShape="0">
              <a:srgbClr val="8B691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11480" y="3419856"/>
            <a:ext cx="64008" cy="10515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66928" y="3675888"/>
            <a:ext cx="502920" cy="50292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66928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70432" y="351129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Email Instead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70432" y="3858768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could this be an email or a quick message? Reserve meetings only for decisions, collaboration, and complex discussions.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DE0CC"/>
          </a:solidFill>
          <a:ln w="12700">
            <a:solidFill>
              <a:srgbClr val="ED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Your Time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DE0CC"/>
          </a:solidFill>
          <a:ln w="12700">
            <a:solidFill>
              <a:srgbClr val="ED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0" y="4837176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Santhi A  |  14 May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0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11480" y="896112"/>
            <a:ext cx="8321040" cy="1051560"/>
          </a:xfrm>
          <a:prstGeom prst="rect">
            <a:avLst/>
          </a:prstGeom>
          <a:solidFill>
            <a:srgbClr val="FDF5E8"/>
          </a:solidFill>
          <a:ln w="12700">
            <a:solidFill>
              <a:srgbClr val="DFD0B0"/>
            </a:solidFill>
            <a:prstDash val="solid"/>
          </a:ln>
          <a:effectLst>
            <a:outerShdw blurRad="50800" dist="25400" dir="8100000" algn="bl" rotWithShape="0">
              <a:srgbClr val="8B691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11480" y="896112"/>
            <a:ext cx="64008" cy="10515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66928" y="1152144"/>
            <a:ext cx="502920" cy="50292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66928" y="1152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70432" y="9875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Honest About Capacity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70432" y="133502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say no or 'not now' when your plate is full. Overcommitting leads to poor quality and missed deadlines.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1480" y="2157984"/>
            <a:ext cx="8321040" cy="1051560"/>
          </a:xfrm>
          <a:prstGeom prst="rect">
            <a:avLst/>
          </a:prstGeom>
          <a:solidFill>
            <a:srgbClr val="FDF5E8"/>
          </a:solidFill>
          <a:ln w="12700">
            <a:solidFill>
              <a:srgbClr val="DFD0B0"/>
            </a:solidFill>
            <a:prstDash val="solid"/>
          </a:ln>
          <a:effectLst>
            <a:outerShdw blurRad="50800" dist="25400" dir="8100000" algn="bl" rotWithShape="0">
              <a:srgbClr val="8B691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11480" y="2157984"/>
            <a:ext cx="64008" cy="10515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66928" y="2414016"/>
            <a:ext cx="502920" cy="50292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66928" y="2414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224942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Your Current Load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70432" y="2596896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workload visible to your manager and team. Use a shared dashboard or status board so priorities are clear.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1480" y="3419856"/>
            <a:ext cx="8321040" cy="1051560"/>
          </a:xfrm>
          <a:prstGeom prst="rect">
            <a:avLst/>
          </a:prstGeom>
          <a:solidFill>
            <a:srgbClr val="FDF5E8"/>
          </a:solidFill>
          <a:ln w="12700">
            <a:solidFill>
              <a:srgbClr val="DFD0B0"/>
            </a:solidFill>
            <a:prstDash val="solid"/>
          </a:ln>
          <a:effectLst>
            <a:outerShdw blurRad="50800" dist="25400" dir="8100000" algn="bl" rotWithShape="0">
              <a:srgbClr val="8B691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11480" y="3419856"/>
            <a:ext cx="64008" cy="10515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66928" y="3675888"/>
            <a:ext cx="502920" cy="50292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66928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70432" y="351129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Your Deep Work Hours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70432" y="3858768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at least 2 hours daily for focused, uninterrupted work. Protect this time as your most valuable asset.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DE0CC"/>
          </a:solidFill>
          <a:ln w="12700">
            <a:solidFill>
              <a:srgbClr val="ED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3B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8B6914">
              <a:alpha val="8000"/>
            </a:srgbClr>
          </a:solidFill>
          <a:ln w="12700">
            <a:solidFill>
              <a:srgbClr val="8B691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0" y="16002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3474720" y="2724912"/>
            <a:ext cx="2194560" cy="45720"/>
          </a:xfrm>
          <a:prstGeom prst="rect">
            <a:avLst/>
          </a:prstGeom>
          <a:solidFill>
            <a:srgbClr val="C4973A"/>
          </a:solidFill>
          <a:ln w="12700">
            <a:solidFill>
              <a:srgbClr val="C497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0" y="29077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B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time and attention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017520" y="3429000"/>
            <a:ext cx="3108960" cy="987552"/>
          </a:xfrm>
          <a:prstGeom prst="rect">
            <a:avLst/>
          </a:prstGeom>
          <a:solidFill>
            <a:srgbClr val="FDF5E8"/>
          </a:solidFill>
          <a:ln w="12700">
            <a:solidFill>
              <a:srgbClr val="DFD0B0"/>
            </a:solidFill>
            <a:prstDash val="solid"/>
          </a:ln>
          <a:effectLst>
            <a:outerShdw blurRad="50800" dist="25400" dir="8100000" algn="bl" rotWithShape="0">
              <a:srgbClr val="8B6914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017520" y="3429000"/>
            <a:ext cx="3108960" cy="5029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017520" y="34930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37490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Santhi A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DE0CC"/>
          </a:solidFill>
          <a:ln w="12700">
            <a:solidFill>
              <a:srgbClr val="ED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0" y="4837176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Santhi A  |  14 May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527</Words>
  <Application>Microsoft Office PowerPoint</Application>
  <PresentationFormat>On-screen Show (16:9)</PresentationFormat>
  <Paragraphs>93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Management</dc:title>
  <dc:subject>PptxGenJS Presentation</dc:subject>
  <dc:creator>Santhi A</dc:creator>
  <cp:lastModifiedBy>Kanigolla, Rama Sai Avinash (Cognizant)</cp:lastModifiedBy>
  <cp:revision>2</cp:revision>
  <dcterms:created xsi:type="dcterms:W3CDTF">2026-05-14T05:10:03Z</dcterms:created>
  <dcterms:modified xsi:type="dcterms:W3CDTF">2026-05-14T05:12:16Z</dcterms:modified>
</cp:coreProperties>
</file>